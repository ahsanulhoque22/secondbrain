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0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031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6EC5E8"/>
                </a:solidFill>
                <a:latin typeface="Hack"/>
              </a:rPr>
              <a:t>AGENTIC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1089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EEF0F3"/>
                </a:solidFill>
                <a:latin typeface="Hack"/>
              </a:rPr>
              <a:t>What makes an AI agent ‘agentic’?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0350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AA3AF"/>
                </a:solidFill>
                <a:latin typeface="Hack"/>
              </a:rPr>
              <a:t>Guest Lecture  ·  Built live with Claude Code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0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6EC5E8"/>
                </a:solidFill>
                <a:latin typeface="Hack"/>
              </a:rPr>
              <a:t>From Chatbot to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241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EF0F3"/>
                </a:solidFill>
                <a:latin typeface="Hack"/>
              </a:defRPr>
            </a:pPr>
            <a:r>
              <a:t>›  Chatbot: one prompt in, one answer out. No memory of whether it worked.</a:t>
            </a:r>
          </a:p>
          <a:p>
            <a:pPr>
              <a:spcAft>
                <a:spcPts val="1400"/>
              </a:spcAft>
              <a:defRPr sz="2200">
                <a:solidFill>
                  <a:srgbClr val="EEF0F3"/>
                </a:solidFill>
                <a:latin typeface="Hack"/>
              </a:defRPr>
            </a:pPr>
            <a:r>
              <a:t>›  Agent: perceives state, plans a step, acts with real tools, checks the result.</a:t>
            </a:r>
          </a:p>
          <a:p>
            <a:pPr>
              <a:spcAft>
                <a:spcPts val="1400"/>
              </a:spcAft>
              <a:defRPr sz="2200">
                <a:solidFill>
                  <a:srgbClr val="EEF0F3"/>
                </a:solidFill>
                <a:latin typeface="Hack"/>
              </a:defRPr>
            </a:pPr>
            <a:r>
              <a:t>›  The difference isn’t model size. It’s the loop around the model.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0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6EC5E8"/>
                </a:solidFill>
                <a:latin typeface="Hack"/>
              </a:rPr>
              <a:t>The Core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241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EF0F3"/>
                </a:solidFill>
                <a:latin typeface="Hack"/>
              </a:defRPr>
            </a:pPr>
            <a:r>
              <a:t>›  1. Plan: break the goal into a concrete next step</a:t>
            </a:r>
          </a:p>
          <a:p>
            <a:pPr>
              <a:spcAft>
                <a:spcPts val="1400"/>
              </a:spcAft>
              <a:defRPr sz="2200">
                <a:solidFill>
                  <a:srgbClr val="EEF0F3"/>
                </a:solidFill>
                <a:latin typeface="Hack"/>
              </a:defRPr>
            </a:pPr>
            <a:r>
              <a:t>›  2. Act: call a real tool (write a file, run code, hit an API)</a:t>
            </a:r>
          </a:p>
          <a:p>
            <a:pPr>
              <a:spcAft>
                <a:spcPts val="1400"/>
              </a:spcAft>
              <a:defRPr sz="2200">
                <a:solidFill>
                  <a:srgbClr val="EEF0F3"/>
                </a:solidFill>
                <a:latin typeface="Hack"/>
              </a:defRPr>
            </a:pPr>
            <a:r>
              <a:t>›  3. Observe: read back what actually happened</a:t>
            </a:r>
          </a:p>
          <a:p>
            <a:pPr>
              <a:spcAft>
                <a:spcPts val="1400"/>
              </a:spcAft>
              <a:defRPr sz="2200">
                <a:solidFill>
                  <a:srgbClr val="EEF0F3"/>
                </a:solidFill>
                <a:latin typeface="Hack"/>
              </a:defRPr>
            </a:pPr>
            <a:r>
              <a:t>›  4. Verify: check the result against the actual requirement</a:t>
            </a:r>
          </a:p>
          <a:p>
            <a:pPr>
              <a:spcAft>
                <a:spcPts val="1400"/>
              </a:spcAft>
              <a:defRPr sz="2200">
                <a:solidFill>
                  <a:srgbClr val="EEF0F3"/>
                </a:solidFill>
                <a:latin typeface="Hack"/>
              </a:defRPr>
            </a:pPr>
            <a:r>
              <a:t>›  5. Repeat until the requirement is genuinely met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0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6EC5E8"/>
                </a:solidFill>
                <a:latin typeface="Hack"/>
              </a:rPr>
              <a:t>Today’s 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241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EEF0F3"/>
                </a:solidFill>
                <a:latin typeface="Hack"/>
              </a:defRPr>
            </a:pPr>
            <a:r>
              <a:t>›  Built a daily planner from constraints: prayer times, class, tasks</a:t>
            </a:r>
          </a:p>
          <a:p>
            <a:pPr>
              <a:spcAft>
                <a:spcPts val="1400"/>
              </a:spcAft>
              <a:defRPr sz="2000">
                <a:solidFill>
                  <a:srgbClr val="EEF0F3"/>
                </a:solidFill>
                <a:latin typeface="Hack"/>
              </a:defRPr>
            </a:pPr>
            <a:r>
              <a:t>›  First draft had a real scheduling conflict. The validator caught it.</a:t>
            </a:r>
          </a:p>
          <a:p>
            <a:pPr>
              <a:spcAft>
                <a:spcPts val="1400"/>
              </a:spcAft>
              <a:defRPr sz="2000">
                <a:solidFill>
                  <a:srgbClr val="EEF0F3"/>
                </a:solidFill>
                <a:latin typeface="Hack"/>
              </a:defRPr>
            </a:pPr>
            <a:r>
              <a:t>›  Diagnosed the bug, fixed the logic, re-validated until it passed</a:t>
            </a:r>
          </a:p>
          <a:p>
            <a:pPr>
              <a:spcAft>
                <a:spcPts val="1400"/>
              </a:spcAft>
              <a:defRPr sz="2000">
                <a:solidFill>
                  <a:srgbClr val="EEF0F3"/>
                </a:solidFill>
                <a:latin typeface="Hack"/>
              </a:defRPr>
            </a:pPr>
            <a:r>
              <a:t>›  Pushed the finished plan to Google Calendar with reminders</a:t>
            </a:r>
          </a:p>
          <a:p>
            <a:pPr>
              <a:spcAft>
                <a:spcPts val="1400"/>
              </a:spcAft>
              <a:defRPr sz="2000">
                <a:solidFill>
                  <a:srgbClr val="EEF0F3"/>
                </a:solidFill>
                <a:latin typeface="Hack"/>
              </a:defRPr>
            </a:pPr>
            <a:r>
              <a:t>›  Generated this exact slide deck as one of the plan’s own tasks</a:t>
            </a:r>
          </a:p>
          <a:p>
            <a:pPr>
              <a:spcAft>
                <a:spcPts val="1400"/>
              </a:spcAft>
              <a:defRPr sz="2000">
                <a:solidFill>
                  <a:srgbClr val="EEF0F3"/>
                </a:solidFill>
                <a:latin typeface="Hack"/>
              </a:defRPr>
            </a:pPr>
            <a:r>
              <a:t>›  Drafted a reply to a sample email, another task done autonomously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0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6EC5E8"/>
                </a:solidFill>
                <a:latin typeface="Hack"/>
              </a:rPr>
              <a:t>Key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241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EEF0F3"/>
                </a:solidFill>
                <a:latin typeface="Hack"/>
              </a:rPr>
              <a:t>Agentic = tool use + iteration + judgment under real constraints.
Not a bigger answer. A system that checks its own work.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