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C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0" b="1" i="0">
                <a:solidFill>
                  <a:srgbClr val="6EC5E8"/>
                </a:solidFill>
                <a:latin typeface="Hack"/>
              </a:rPr>
              <a:t>AGENTIC AI, LIVE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918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EEF0F3"/>
                </a:solidFill>
                <a:latin typeface="Hack"/>
              </a:rPr>
              <a:t>Building a Daily Planner With Claude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0350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AA3AF"/>
                </a:solidFill>
                <a:latin typeface="Hack"/>
              </a:rPr>
              <a:t>Guest Lecture Demo  ·  Every step below actually ran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C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6EC5E8"/>
                </a:solidFill>
                <a:latin typeface="Hack"/>
              </a:rPr>
              <a:t>What Is Agentic AI?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EEF0F3"/>
                </a:solidFill>
                <a:latin typeface="Hack"/>
              </a:defRPr>
            </a:pPr>
            <a:r>
              <a:t>›  A chatbot answers once and stops. It has no idea if it was right.</a:t>
            </a:r>
          </a:p>
          <a:p>
            <a:pPr>
              <a:spcAft>
                <a:spcPts val="1000"/>
              </a:spcAft>
              <a:defRPr sz="2000">
                <a:solidFill>
                  <a:srgbClr val="EEF0F3"/>
                </a:solidFill>
                <a:latin typeface="Hack"/>
              </a:defRPr>
            </a:pPr>
            <a:r>
              <a:t>›  An agent plans a step, acts with real tools, checks the result, and repeats.</a:t>
            </a:r>
          </a:p>
          <a:p>
            <a:pPr>
              <a:spcAft>
                <a:spcPts val="1000"/>
              </a:spcAft>
              <a:defRPr sz="2000">
                <a:solidFill>
                  <a:srgbClr val="EEF0F3"/>
                </a:solidFill>
                <a:latin typeface="Hack"/>
              </a:defRPr>
            </a:pPr>
            <a:r>
              <a:t>›  Today: watch that loop build something real, end to end, live.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C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6EC5E8"/>
                </a:solidFill>
                <a:latin typeface="Hack"/>
              </a:rPr>
              <a:t>The Core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EEF0F3"/>
                </a:solidFill>
                <a:latin typeface="Hack"/>
              </a:defRPr>
            </a:pPr>
            <a:r>
              <a:t>›  1. Plan: break the goal into a concrete next step</a:t>
            </a:r>
          </a:p>
          <a:p>
            <a:pPr>
              <a:spcAft>
                <a:spcPts val="1000"/>
              </a:spcAft>
              <a:defRPr sz="2000">
                <a:solidFill>
                  <a:srgbClr val="EEF0F3"/>
                </a:solidFill>
                <a:latin typeface="Hack"/>
              </a:defRPr>
            </a:pPr>
            <a:r>
              <a:t>›  2. Act: call a real tool (write code, run it, hit an API)</a:t>
            </a:r>
          </a:p>
          <a:p>
            <a:pPr>
              <a:spcAft>
                <a:spcPts val="1000"/>
              </a:spcAft>
              <a:defRPr sz="2000">
                <a:solidFill>
                  <a:srgbClr val="EEF0F3"/>
                </a:solidFill>
                <a:latin typeface="Hack"/>
              </a:defRPr>
            </a:pPr>
            <a:r>
              <a:t>›  3. Observe: read back what actually happened</a:t>
            </a:r>
          </a:p>
          <a:p>
            <a:pPr>
              <a:spcAft>
                <a:spcPts val="1000"/>
              </a:spcAft>
              <a:defRPr sz="2000">
                <a:solidFill>
                  <a:srgbClr val="EEF0F3"/>
                </a:solidFill>
                <a:latin typeface="Hack"/>
              </a:defRPr>
            </a:pPr>
            <a:r>
              <a:t>›  4. Verify: check the result against the real requirement</a:t>
            </a:r>
          </a:p>
          <a:p>
            <a:pPr>
              <a:spcAft>
                <a:spcPts val="1000"/>
              </a:spcAft>
              <a:defRPr sz="2000">
                <a:solidFill>
                  <a:srgbClr val="EEF0F3"/>
                </a:solidFill>
                <a:latin typeface="Hack"/>
              </a:defRPr>
            </a:pPr>
            <a:r>
              <a:t>›  5. Repeat until it is genuinely done, not just attempted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C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6EC5E8"/>
                </a:solidFill>
                <a:latin typeface="Hack"/>
              </a:rPr>
              <a:t>What We're Building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EEF0F3"/>
                </a:solidFill>
                <a:latin typeface="Hack"/>
              </a:defRPr>
            </a:pPr>
            <a:r>
              <a:t>›  A daily planner from real constraints: prayer times, a class, seven flexible tasks</a:t>
            </a:r>
          </a:p>
          <a:p>
            <a:pPr>
              <a:spcAft>
                <a:spcPts val="1000"/>
              </a:spcAft>
              <a:defRPr sz="2000">
                <a:solidFill>
                  <a:srgbClr val="EEF0F3"/>
                </a:solidFill>
                <a:latin typeface="Hack"/>
              </a:defRPr>
            </a:pPr>
            <a:r>
              <a:t>›  A validator that enforces the constraints, not a script that just prints a plan</a:t>
            </a:r>
          </a:p>
          <a:p>
            <a:pPr>
              <a:spcAft>
                <a:spcPts val="1000"/>
              </a:spcAft>
              <a:defRPr sz="2000">
                <a:solidFill>
                  <a:srgbClr val="EEF0F3"/>
                </a:solidFill>
                <a:latin typeface="Hack"/>
              </a:defRPr>
            </a:pPr>
            <a:r>
              <a:t>›  Then: push it to Google Calendar, prep the class slides, draft a client reply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C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6EC5E8"/>
                </a:solidFill>
                <a:latin typeface="Hack"/>
              </a:rPr>
              <a:t>Step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EF0F3"/>
                </a:solidFill>
                <a:latin typeface="Hack"/>
              </a:rPr>
              <a:t>Set the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6CD196"/>
                </a:solidFill>
                <a:latin typeface="Hack"/>
              </a:rPr>
              <a:t>PROMPT:  “Write constraints.json with today's fixed blocks and flexible tasks, plus validate.py to check for overlaps and enforce the fixed blocks.”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AA3AF"/>
                </a:solidFill>
                <a:latin typeface="Hack"/>
              </a:rPr>
              <a:t>Before generating anything, Claude writes down what ‘correct’ means as code. That turns a vague request into something it can actually check its own work against later.</a:t>
            </a:r>
          </a:p>
        </p:txBody>
      </p:sp>
      <p:pic>
        <p:nvPicPr>
          <p:cNvPr id="6" name="Picture 5" descr="01_constraints_set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0193" y="2880360"/>
            <a:ext cx="6901132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C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6EC5E8"/>
                </a:solidFill>
                <a:latin typeface="Hack"/>
              </a:rPr>
              <a:t>Step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EF0F3"/>
                </a:solidFill>
                <a:latin typeface="Hack"/>
              </a:rPr>
              <a:t>First Draft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6CD196"/>
                </a:solidFill>
                <a:latin typeface="Hack"/>
              </a:rPr>
              <a:t>PROMPT:  “Write schedule.py to generate today's schedule from constraints.json, then run it.”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AA3AF"/>
                </a:solidFill>
                <a:latin typeface="Hack"/>
              </a:rPr>
              <a:t>Claude writes an honest first attempt: place fixed blocks, then slot flexible tasks in file order with no look-ahead. This is what a plain greedy scheduler actually produces, not a staged mistake.</a:t>
            </a:r>
          </a:p>
        </p:txBody>
      </p:sp>
      <p:pic>
        <p:nvPicPr>
          <p:cNvPr id="6" name="Picture 5" descr="02b_schedule_v1_condens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07" y="2880360"/>
            <a:ext cx="9593704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C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6EC5E8"/>
                </a:solidFill>
                <a:latin typeface="Hack"/>
              </a:rPr>
              <a:t>Step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EF0F3"/>
                </a:solidFill>
                <a:latin typeface="Hack"/>
              </a:rPr>
              <a:t>Observe the Failure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6CD196"/>
                </a:solidFill>
                <a:latin typeface="Hack"/>
              </a:rPr>
              <a:t>PROMPT:  “Run validate.py against the generated schedule.”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AA3AF"/>
                </a:solidFill>
                <a:latin typeface="Hack"/>
              </a:rPr>
              <a:t>Claude runs the same check a human reviewer would run. The output is not a final answer, it is a signal: three real overlaps, including one on top of Fajr prayer. This is the ‘observe’ step of the loop.</a:t>
            </a:r>
          </a:p>
        </p:txBody>
      </p:sp>
      <p:pic>
        <p:nvPicPr>
          <p:cNvPr id="6" name="Picture 5" descr="03_validate_v1_f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486721"/>
            <a:ext cx="10515600" cy="244487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C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6EC5E8"/>
                </a:solidFill>
                <a:latin typeface="Hack"/>
              </a:rPr>
              <a:t>Step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EF0F3"/>
                </a:solidFill>
                <a:latin typeface="Hack"/>
              </a:rPr>
              <a:t>Diagnose and Fix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6CD196"/>
                </a:solidFill>
                <a:latin typeface="Hack"/>
              </a:rPr>
              <a:t>PROMPT:  “The validator failed. Diagnose why, fix schedule.py, then regenerate the schedule.”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AA3AF"/>
                </a:solidFill>
                <a:latin typeface="Hack"/>
              </a:rPr>
              <a:t>Claude traces every failure to one root cause: no priority order and no look-ahead. The fix sorts tasks by priority and scans forward for a truly free slot, rather than patching each conflict by hand. That is judgment, not guesswork.</a:t>
            </a:r>
          </a:p>
        </p:txBody>
      </p:sp>
      <p:pic>
        <p:nvPicPr>
          <p:cNvPr id="6" name="Picture 5" descr="04b_schedule_v2_condens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07" y="2880360"/>
            <a:ext cx="9593704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C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6EC5E8"/>
                </a:solidFill>
                <a:latin typeface="Hack"/>
              </a:rPr>
              <a:t>Step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EF0F3"/>
                </a:solidFill>
                <a:latin typeface="Hack"/>
              </a:rPr>
              <a:t>Verify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6CD196"/>
                </a:solidFill>
                <a:latin typeface="Hack"/>
              </a:rPr>
              <a:t>PROMPT:  “Re-run the validator against the fixed schedule.”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AA3AF"/>
                </a:solidFill>
                <a:latin typeface="Hack"/>
              </a:rPr>
              <a:t>Only now does Claude call it done, because the same objective check that failed before now passes. The loop closes on evidence, not on confidence.</a:t>
            </a:r>
          </a:p>
        </p:txBody>
      </p:sp>
      <p:pic>
        <p:nvPicPr>
          <p:cNvPr id="6" name="Picture 5" descr="05_validate_v2_p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933634"/>
            <a:ext cx="10515600" cy="155105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C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6EC5E8"/>
                </a:solidFill>
                <a:latin typeface="Hack"/>
              </a:rPr>
              <a:t>Step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EF0F3"/>
                </a:solidFill>
                <a:latin typeface="Hack"/>
              </a:rPr>
              <a:t>Act in the Real World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6CD196"/>
                </a:solidFill>
                <a:latin typeface="Hack"/>
              </a:rPr>
              <a:t>PROMPT:  “Push today's validated schedule to Google Calendar with reminders.”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AA3AF"/>
                </a:solidFill>
                <a:latin typeface="Hack"/>
              </a:rPr>
              <a:t>Agentic does not stop at generating text. Claude calls a real calendar API, so the plan becomes something that will actually remind him at the right time.</a:t>
            </a:r>
          </a:p>
        </p:txBody>
      </p:sp>
      <p:pic>
        <p:nvPicPr>
          <p:cNvPr id="6" name="Picture 5" descr="06_calendar_morn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375064"/>
            <a:ext cx="5486400" cy="2668190"/>
          </a:xfrm>
          <a:prstGeom prst="rect">
            <a:avLst/>
          </a:prstGeom>
        </p:spPr>
      </p:pic>
      <p:pic>
        <p:nvPicPr>
          <p:cNvPr id="7" name="Picture 6" descr="07_calendar_afternoo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3375064"/>
            <a:ext cx="5486400" cy="266819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C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6EC5E8"/>
                </a:solidFill>
                <a:latin typeface="Hack"/>
              </a:rPr>
              <a:t>Step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EF0F3"/>
                </a:solidFill>
                <a:latin typeface="Hack"/>
              </a:rPr>
              <a:t>Execute a Task From Its Own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6CD196"/>
                </a:solidFill>
                <a:latin typeface="Hack"/>
              </a:rPr>
              <a:t>PROMPT:  “One of today's tasks is prepping slides for the guest lecture. Generate that slide deck.”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AA3AF"/>
                </a:solidFill>
                <a:latin typeface="Hack"/>
              </a:rPr>
              <a:t>The plan is not a list Claude wrote and handed off. Claude carries out one of its own line items right there, as a real, checkable deliverable.</a:t>
            </a:r>
          </a:p>
        </p:txBody>
      </p:sp>
      <p:pic>
        <p:nvPicPr>
          <p:cNvPr id="6" name="Picture 5" descr="08_class_deck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166703"/>
            <a:ext cx="5486400" cy="3084913"/>
          </a:xfrm>
          <a:prstGeom prst="rect">
            <a:avLst/>
          </a:prstGeom>
        </p:spPr>
      </p:pic>
      <p:pic>
        <p:nvPicPr>
          <p:cNvPr id="7" name="Picture 6" descr="09_class_deck_rec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3166703"/>
            <a:ext cx="5486400" cy="308491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C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6EC5E8"/>
                </a:solidFill>
                <a:latin typeface="Hack"/>
              </a:rPr>
              <a:t>Step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EF0F3"/>
                </a:solidFill>
                <a:latin typeface="Hack"/>
              </a:rPr>
              <a:t>Draft the Reply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6CD196"/>
                </a:solidFill>
                <a:latin typeface="Hack"/>
              </a:rPr>
              <a:t>PROMPT:  “Another task is replying to a client email. Draft the reply.”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AA3AF"/>
                </a:solidFill>
                <a:latin typeface="Hack"/>
              </a:rPr>
              <a:t>Same pattern again: read the actual request, act on it, and produce something the user only has to review, not write from scratch.</a:t>
            </a:r>
          </a:p>
        </p:txBody>
      </p:sp>
      <p:pic>
        <p:nvPicPr>
          <p:cNvPr id="6" name="Picture 5" descr="10_mock_email_ta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6395" y="2880360"/>
            <a:ext cx="5388729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C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6EC5E8"/>
                </a:solidFill>
                <a:latin typeface="Hack"/>
              </a:rPr>
              <a:t>Key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EEF0F3"/>
                </a:solidFill>
                <a:latin typeface="Hack"/>
              </a:defRPr>
            </a:pPr>
            <a:r>
              <a:t>›  Agentic = tool use + iteration + judgment under real constraints.</a:t>
            </a:r>
          </a:p>
          <a:p>
            <a:pPr>
              <a:spcAft>
                <a:spcPts val="1000"/>
              </a:spcAft>
              <a:defRPr sz="2200">
                <a:solidFill>
                  <a:srgbClr val="EEF0F3"/>
                </a:solidFill>
                <a:latin typeface="Hack"/>
              </a:defRPr>
            </a:pPr>
            <a:r>
              <a:t>›  Every step here was checked against something real: a validator, a calendar API, an actual task in the plan.</a:t>
            </a:r>
          </a:p>
          <a:p>
            <a:pPr>
              <a:spcAft>
                <a:spcPts val="1000"/>
              </a:spcAft>
              <a:defRPr sz="2200">
                <a:solidFill>
                  <a:srgbClr val="EEF0F3"/>
                </a:solidFill>
                <a:latin typeface="Hack"/>
              </a:defRPr>
            </a:pPr>
            <a:r>
              <a:t>›  Try it yourselves: give Claude Code a goal with a checkable definition of done, and watch what it does with the loop.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