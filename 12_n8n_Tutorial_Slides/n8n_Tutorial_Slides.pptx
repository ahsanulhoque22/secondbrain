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83119"/>
            <a:ext cx="5239512" cy="3491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26B5A"/>
                </a:solidFill>
                <a:latin typeface="Hack"/>
              </a:rPr>
              <a:t>N8N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EF0F3"/>
                </a:solidFill>
                <a:latin typeface="Hack"/>
              </a:rPr>
              <a:t>Build Your First No-Code
Automation Workflow,
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3AF"/>
                </a:solidFill>
                <a:latin typeface="Hack"/>
              </a:rPr>
              <a:t>Based on the article by Rizwanhoda for Towards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26B5A"/>
                </a:solidFill>
                <a:latin typeface="Hack"/>
              </a:rPr>
              <a:t>What Is n8n?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A visual, no-code workflow automation platform (pronounced ‘n-eight-n’)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Connect apps and services by linking nodes on a canvas, no code required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Free and open-source when you self-host it on your own 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26B5A"/>
                </a:solidFill>
                <a:latin typeface="Hack"/>
              </a:rPr>
              <a:t>Why It Matters for Beginners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No coding background needed: drag, drop, and connect nodes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Scales from a two-step automation to a full backend workflow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Tasks that used to take hours by hand now run in one click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26B5A"/>
                </a:solidFill>
                <a:latin typeface="Hack"/>
              </a:rPr>
              <a:t>Installing n8n: Two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EF0F3"/>
                </a:solidFill>
                <a:latin typeface="Hack"/>
              </a:defRPr>
            </a:pPr>
            <a:r>
              <a:t>›  Local (self-hosted): needs Node.js first, then full control and privacy</a:t>
            </a:r>
          </a:p>
          <a:p>
            <a:pPr>
              <a:spcAft>
                <a:spcPts val="1000"/>
              </a:spcAft>
              <a:defRPr sz="1800">
                <a:solidFill>
                  <a:srgbClr val="EEF0F3"/>
                </a:solidFill>
                <a:latin typeface="Hack"/>
              </a:defRPr>
            </a:pPr>
            <a:r>
              <a:t>›  n8n Cloud: sign up and start building in minutes, zero setup</a:t>
            </a:r>
          </a:p>
          <a:p>
            <a:pPr>
              <a:spcAft>
                <a:spcPts val="1000"/>
              </a:spcAft>
              <a:defRPr sz="1800">
                <a:solidFill>
                  <a:srgbClr val="EEF0F3"/>
                </a:solidFill>
                <a:latin typeface="Hack"/>
              </a:defRPr>
            </a:pPr>
            <a:r>
              <a:t>›  This tutorial uses the cloud version for every screenshot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CD196"/>
                </a:solidFill>
                <a:latin typeface="Hack"/>
              </a:rPr>
              <a:t>$ npm install -g n8n
$ n8n start
# then open http://localhost:5678
$ npm update -g n8n   # to upgrade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26B5A"/>
                </a:solidFill>
                <a:latin typeface="Hack"/>
              </a:rPr>
              <a:t>The Cloud Editor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After signing up and answering a few setup questions, click “Start Automating”. You land on a blank canvas with one node already placed, ready to build.</a:t>
            </a:r>
          </a:p>
        </p:txBody>
      </p:sp>
      <p:pic>
        <p:nvPicPr>
          <p:cNvPr id="4" name="Picture 3" descr="32_cloud_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638" y="2148840"/>
            <a:ext cx="911824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26B5A"/>
                </a:solidFill>
                <a:latin typeface="Hack"/>
              </a:rPr>
              <a:t>What We're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1. Form Trigger  →  2. Google Sheets  →  3. Switch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4. Gmail  →  5. Duplicate Gmail  →  6. Merge  →  7. Test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Form submission → data saved → the right email sent,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1a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Start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Click “Start from Scratch”, then “Add First Step” to open the node search panel and begin the flow.</a:t>
            </a:r>
          </a:p>
        </p:txBody>
      </p:sp>
      <p:pic>
        <p:nvPicPr>
          <p:cNvPr id="5" name="Picture 4" descr="38_add_first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508" y="2194560"/>
            <a:ext cx="742050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1b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Add the Form Trigger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Search “On Submission of Form” in the panel and select it as the trigger for this workflow.</a:t>
            </a:r>
          </a:p>
        </p:txBody>
      </p:sp>
      <p:pic>
        <p:nvPicPr>
          <p:cNvPr id="5" name="Picture 4" descr="40_form_trigger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446" y="2194560"/>
            <a:ext cx="581462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1c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Define the Form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Add the fields to collect from the user, for example Full Name, Industry, Qualification, and Job Title.</a:t>
            </a:r>
          </a:p>
        </p:txBody>
      </p:sp>
      <p:pic>
        <p:nvPicPr>
          <p:cNvPr id="5" name="Picture 4" descr="42_form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553" y="2194560"/>
            <a:ext cx="4170412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1d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Run It, See the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Executing this step generates a live, working form based on the fields you just defined.</a:t>
            </a:r>
          </a:p>
        </p:txBody>
      </p:sp>
      <p:pic>
        <p:nvPicPr>
          <p:cNvPr id="5" name="Picture 4" descr="44_generated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021" y="2194560"/>
            <a:ext cx="3599477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1e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Inspect the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Submitted data appears as JSON in the output panel. Switch to Table or Schema view to explore it differently.</a:t>
            </a:r>
          </a:p>
        </p:txBody>
      </p:sp>
      <p:pic>
        <p:nvPicPr>
          <p:cNvPr id="5" name="Picture 4" descr="46_json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37" y="2194560"/>
            <a:ext cx="8588644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Add a Google Sheets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Search “Google Sheets” and choose the “Append Row” action, so every submission becomes a new row.</a:t>
            </a:r>
          </a:p>
        </p:txBody>
      </p:sp>
      <p:pic>
        <p:nvPicPr>
          <p:cNvPr id="5" name="Picture 4" descr="50_sheets_append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182" y="2194560"/>
            <a:ext cx="518315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Point It at a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Set Resource to Document, pick the target spreadsheet, and connect your Google account under Credentials.</a:t>
            </a:r>
          </a:p>
        </p:txBody>
      </p:sp>
      <p:pic>
        <p:nvPicPr>
          <p:cNvPr id="5" name="Picture 4" descr="54_sheets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891" y="2194560"/>
            <a:ext cx="537973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2c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Map the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Set Resource to Sheet, then drag each form field onto its matching column before executing.</a:t>
            </a:r>
          </a:p>
        </p:txBody>
      </p:sp>
      <p:pic>
        <p:nvPicPr>
          <p:cNvPr id="5" name="Picture 4" descr="57_sheets_map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29" y="2194560"/>
            <a:ext cx="577366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Add a Switch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Add a Switch node and set routing rules so the flow branches based on a field value, like the selected option.</a:t>
            </a:r>
          </a:p>
        </p:txBody>
      </p:sp>
      <p:pic>
        <p:nvPicPr>
          <p:cNvPr id="5" name="Picture 4" descr="61_switch_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041" y="2194560"/>
            <a:ext cx="536943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4a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Add Gmail, Connect the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Search “Gmail”, choose “Send Message”, and authorize it via the pencil icon under Credentials.</a:t>
            </a:r>
          </a:p>
        </p:txBody>
      </p:sp>
      <p:pic>
        <p:nvPicPr>
          <p:cNvPr id="5" name="Picture 4" descr="64_gmail_credent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455" y="2194560"/>
            <a:ext cx="629260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Write the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Set Resource to Message, enter the recipient's address, and write the email content to send.</a:t>
            </a:r>
          </a:p>
        </p:txBody>
      </p:sp>
      <p:pic>
        <p:nvPicPr>
          <p:cNvPr id="5" name="Picture 4" descr="66_gmail_message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450" y="2194560"/>
            <a:ext cx="737061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4c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Send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Execute the node and check the inbox. The email sent through the automation should be waiting there.</a:t>
            </a:r>
          </a:p>
        </p:txBody>
      </p:sp>
      <p:pic>
        <p:nvPicPr>
          <p:cNvPr id="5" name="Picture 4" descr="68_gmail_exec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450" y="2194560"/>
            <a:ext cx="737061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4d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Configure the Second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Return to the other Gmail node the Switch can route to, and fill in its message details as well.</a:t>
            </a:r>
          </a:p>
        </p:txBody>
      </p:sp>
      <p:pic>
        <p:nvPicPr>
          <p:cNvPr id="5" name="Picture 4" descr="70_gmail_second_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5" y="2194560"/>
            <a:ext cx="9345168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Duplicate for a Second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Right-click the Gmail node, choose Duplicate, and change the message text to reflect the other outcome.</a:t>
            </a:r>
          </a:p>
        </p:txBody>
      </p:sp>
      <p:pic>
        <p:nvPicPr>
          <p:cNvPr id="5" name="Picture 4" descr="74_duplicate_g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82555"/>
            <a:ext cx="9966960" cy="33674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Add a Merge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Click the + icon on a Gmail node, search “Merge”, and add it to combine both branches into one path.</a:t>
            </a:r>
          </a:p>
        </p:txBody>
      </p:sp>
      <p:pic>
        <p:nvPicPr>
          <p:cNvPr id="5" name="Picture 4" descr="78_merge_node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719" y="2194560"/>
            <a:ext cx="886408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6b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Connect Both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Drag both Gmail outputs into the Merge node. Form submission, sheet update, and the right email are now one flow.</a:t>
            </a:r>
          </a:p>
        </p:txBody>
      </p:sp>
      <p:pic>
        <p:nvPicPr>
          <p:cNvPr id="5" name="Picture 4" descr="81_merge_connect_bran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719" y="2194560"/>
            <a:ext cx="8864081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26B5A"/>
                </a:solidFill>
                <a:latin typeface="Hack"/>
              </a:rP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EF0F3"/>
                </a:solidFill>
                <a:latin typeface="Hack"/>
              </a:rPr>
              <a:t>Test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Resubmit the form and confirm two things: the row lands in Google Sheets, and the correct email arrives in the inbox.</a:t>
            </a:r>
          </a:p>
        </p:txBody>
      </p:sp>
      <p:pic>
        <p:nvPicPr>
          <p:cNvPr id="5" name="Picture 4" descr="87_tes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960" y="2194560"/>
            <a:ext cx="77216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26B5A"/>
                </a:solidFill>
                <a:latin typeface="Hack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One trigger, seven nodes, zero code: a complete, working automation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The same pattern (trigger, act, branch, notify) fits almost any repetitive task</a:t>
            </a:r>
          </a:p>
          <a:p>
            <a:pPr>
              <a:spcAft>
                <a:spcPts val="1000"/>
              </a:spcAft>
              <a:defRPr sz="2000">
                <a:solidFill>
                  <a:srgbClr val="EEF0F3"/>
                </a:solidFill>
                <a:latin typeface="Hack"/>
              </a:defRPr>
            </a:pPr>
            <a:r>
              <a:t>›  Next: try automating something from your own daily work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26B5A"/>
                </a:solidFill>
                <a:latin typeface="Hack"/>
              </a:rPr>
              <a:t>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EF0F3"/>
                </a:solidFill>
                <a:latin typeface="Hack"/>
              </a:rPr>
              <a:t>n8n Tutorial for Beginners: Build Your First No-Code
Automation Workflow Step by Step
by Rizwanhoda, published on Towards AI (Medium)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3AF"/>
                </a:solidFill>
                <a:latin typeface="Hack"/>
              </a:rPr>
              <a:t>pub.towardsai.net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